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9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05840"/>
            <a:ext cx="10332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carences en vitamines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apprentissage automatique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063240"/>
            <a:ext cx="3959352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0" y="306324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VitaIA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286000" y="3822192"/>
            <a:ext cx="7616952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97764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Ibnmtar Hazem  ·  Moutchachou Lydia  ·  Varol Serdar  ·  Bekakria Ahmed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MIASHS — Université Paul-Valéry Montpellier 3 — 2025/2026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88552" y="64465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5400000">
            <a:off x="-2423160" y="288036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0" y="0"/>
            <a:ext cx="10177272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45720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26080" y="47548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motivation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77440" y="16916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0" y="170992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77440" y="292608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294436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77440" y="41605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774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41788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ML et prétraitement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377440" y="539496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926080" y="54132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406640" y="45720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5280" y="47548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d'ablation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06640" y="169164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55280" y="170992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finaux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06640" y="292608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55280" y="294436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VitaIA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06640" y="416052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55280" y="417880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Motivation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9844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Carences en vitamines = problème de santé publique mondial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classique : dosages coûteux + expertise clinique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363931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système automatique d'aide au diagnostic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901184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809744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déployée : vitaminia.streamlit.app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35240" y="1188720"/>
            <a:ext cx="4251960" cy="512064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188720"/>
            <a:ext cx="425196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389888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Composantes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955280" y="1920240"/>
            <a:ext cx="361188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09560" y="210312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2103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85632" y="208483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Classificateur ML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85632" y="2377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du type de carence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2926080"/>
            <a:ext cx="361188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3108960"/>
            <a:ext cx="475488" cy="47548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9560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85632" y="30906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CIQUAL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85632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Aliments correcteurs personnalises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0" y="5394960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5440680" cy="5166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88720"/>
            <a:ext cx="5440680" cy="2011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Patients — Kaggle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2176272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210312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4 000 observations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926080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852928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variables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8368" y="3675888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602736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Socio-demo (10)  ·  Apports AJR (8)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4425696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352544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Biomarqueurs (4)  ·  Symptomes (8)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8368" y="5175504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5102352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classes cibles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36792" y="1188720"/>
            <a:ext cx="5440680" cy="516636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6792" y="1188720"/>
            <a:ext cx="544068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9672" y="14630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Alimentaire — CIQUAL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83680" y="2176272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94576" y="2103120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3 484 aliments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83680" y="2926080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2852928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colonnes nutritionnelles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83680" y="3675888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94576" y="3602736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Vitamines  ·  Mineraux  ·  Macronutriments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83680" y="4425696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94576" y="4352544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alimentaires personnalisees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data_vis.ipynb (patients)  +  data2_vis.ipynb (CIQUAL)  +  Orange Data Mining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11480" y="1536192"/>
            <a:ext cx="3749040" cy="24871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536192"/>
            <a:ext cx="3749040" cy="1554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19072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15,9:1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356616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Desequilibre de classes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vs Scurvy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536192"/>
            <a:ext cx="3749040" cy="24871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25112" y="1536192"/>
            <a:ext cx="3749040" cy="1554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719072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416552" y="2926080"/>
            <a:ext cx="356616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max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  Engourdissements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38744" y="1536192"/>
            <a:ext cx="3749040" cy="24871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38744" y="1536192"/>
            <a:ext cx="3749040" cy="1554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0184" y="1719072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3 484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8330184" y="2926080"/>
            <a:ext cx="356616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Aliments CIQUAL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et filtres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1605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des classes 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4617720"/>
            <a:ext cx="4284979" cy="685800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617720"/>
            <a:ext cx="419353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37.7%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96459" y="4617720"/>
            <a:ext cx="3534824" cy="685800"/>
          </a:xfrm>
          <a:prstGeom prst="rect">
            <a:avLst/>
          </a:prstGeom>
          <a:solidFill>
            <a:srgbClr val="3A7FC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2179" y="4617720"/>
            <a:ext cx="34433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 31.1%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31282" y="4617720"/>
            <a:ext cx="2921060" cy="685800"/>
          </a:xfrm>
          <a:prstGeom prst="rect">
            <a:avLst/>
          </a:prstGeom>
          <a:solidFill>
            <a:srgbClr val="CADC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7002" y="4617720"/>
            <a:ext cx="28296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Rickets 25.7%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1152342" y="4617720"/>
            <a:ext cx="352346" cy="685800"/>
          </a:xfrm>
          <a:prstGeom prst="rect">
            <a:avLst/>
          </a:prstGeom>
          <a:solidFill>
            <a:srgbClr val="F5A6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04688" y="4617720"/>
            <a:ext cx="272784" cy="685800"/>
          </a:xfrm>
          <a:prstGeom prst="rect">
            <a:avLst/>
          </a:prstGeom>
          <a:solidFill>
            <a:srgbClr val="C0392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78022" y="5349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Blindness 3.1%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30368" y="5349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Scurvy 2.4%</a:t>
            </a:r>
            <a:endParaRPr lang="en-US" sz="900" dirty="0"/>
          </a:p>
        </p:txBody>
      </p:sp>
      <p:pic>
        <p:nvPicPr>
          <p:cNvPr id="28" name="Image_SMO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100584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ML et Pretraitement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286000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87168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51760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81728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2896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47488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(k=3, in-fold)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77456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78624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43216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43216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StratifiedKFold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473184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74352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38944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38944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SearchCV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iter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56032" y="2788920"/>
            <a:ext cx="5715000" cy="15087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2788920"/>
            <a:ext cx="164592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2834640"/>
            <a:ext cx="53309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applique uniquement sur les donnees d'entrainement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jamais sur le jeu de test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2788920"/>
            <a:ext cx="5669280" cy="15087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2788920"/>
            <a:ext cx="164592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2487168"/>
            <a:ext cx="1920240" cy="3017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487168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detecte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283464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detecte (v1–v4) : meme test set reutilise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Holdout propre v5 cree (30%, random_state=999)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56032" y="4480560"/>
            <a:ext cx="1167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finale : Pipeline sklearn → GridSearch nested → evaluation sur holdout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120640" y="5029200"/>
            <a:ext cx="320040" cy="320040"/>
          </a:xfrm>
          <a:prstGeom prst="ellipse">
            <a:avLst/>
          </a:prstGeom>
          <a:solidFill>
            <a:srgbClr val="CADCFC"/>
          </a:solidFill>
          <a:ln w="6350">
            <a:solidFill>
              <a:srgbClr val="1E276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23560" y="5029200"/>
            <a:ext cx="320040" cy="320040"/>
          </a:xfrm>
          <a:prstGeom prst="ellipse">
            <a:avLst/>
          </a:prstGeom>
          <a:solidFill>
            <a:srgbClr val="F5A623"/>
          </a:solidFill>
          <a:ln w="6350">
            <a:solidFill>
              <a:srgbClr val="1E27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5029200"/>
            <a:ext cx="320040" cy="320040"/>
          </a:xfrm>
          <a:prstGeom prst="ellipse">
            <a:avLst/>
          </a:prstGeom>
          <a:solidFill>
            <a:srgbClr val="CADCFC"/>
          </a:solidFill>
          <a:ln w="6350">
            <a:solidFill>
              <a:srgbClr val="1E276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Modeles Compares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1170432"/>
            <a:ext cx="3566160" cy="4892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15768" y="1170432"/>
            <a:ext cx="1234440" cy="4297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15768" y="1170432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" y="141732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58368" y="2084832"/>
            <a:ext cx="301752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2212848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= 340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3776" y="2688336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= 19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" y="3163824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max_features = log2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" y="374904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94,06%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75488" y="468172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06824" y="1170432"/>
            <a:ext cx="3566160" cy="48920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141732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81144" y="2084832"/>
            <a:ext cx="30175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6552" y="2212848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= RBF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16552" y="2688336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9,19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16552" y="3163824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= scale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98264" y="374904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89,26%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4398264" y="468172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0" y="1170432"/>
            <a:ext cx="3566160" cy="4892040"/>
          </a:xfrm>
          <a:prstGeom prst="rect">
            <a:avLst/>
          </a:prstGeom>
          <a:solidFill>
            <a:srgbClr val="F0F0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39328" y="141732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503920" y="2084832"/>
            <a:ext cx="30175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9328" y="2212848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339328" y="2688336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= distance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39328" y="3163824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= manhattan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321040" y="374904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82,08%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321040" y="468172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4048" y="6291072"/>
            <a:ext cx="11420856" cy="4297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6291072"/>
            <a:ext cx="111831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retenu : robustesse · interpretabilite · gestion variables heterogenes</a:t>
            </a:r>
            <a:endParaRPr lang="en-US" sz="1250" dirty="0"/>
          </a:p>
        </p:txBody>
      </p:sp>
      <p:pic>
        <p:nvPicPr>
          <p:cNvPr id="32" name="Image_ComparMode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114800"/>
            <a:ext cx="8229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Etude d'Ablation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de reference : Bio + Symptomes + SMOTE + Scaler   F1 CV: 0,9232  |  F1 Test: 0,9139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286000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5544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1554480"/>
            <a:ext cx="4572000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554480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78040" y="1554480"/>
            <a:ext cx="1600200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78040" y="15544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Test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0" y="1554480"/>
            <a:ext cx="3364992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1554480"/>
            <a:ext cx="3364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029968"/>
            <a:ext cx="2286000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4825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2029968"/>
            <a:ext cx="4572000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204825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+ Sympt + SMOTE + Scaler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78040" y="2029968"/>
            <a:ext cx="1600200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204825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2029968"/>
            <a:ext cx="3364992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0" y="204825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2761488"/>
            <a:ext cx="2286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77977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SMOTE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606040" y="2761488"/>
            <a:ext cx="4572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97480" y="277977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+ Sympt + Scaler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78040" y="2761488"/>
            <a:ext cx="16002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77977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+0,0083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778240" y="2761488"/>
            <a:ext cx="3364992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69680" y="277977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493008"/>
            <a:ext cx="2286000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51129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Avec Lifestyle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606040" y="3493008"/>
            <a:ext cx="4572000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97480" y="351129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+Bio + Sympt + Lifestyle + SMOTE + Scaler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178040" y="3493008"/>
            <a:ext cx="1600200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69480" y="351129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+0,0526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778240" y="3493008"/>
            <a:ext cx="3364992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69680" y="351129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MAJEUR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0040" y="4224528"/>
            <a:ext cx="2286000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424281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Biomarqueurs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06040" y="4224528"/>
            <a:ext cx="4572000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97480" y="424281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 seuls + SMOTE + Scaler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78040" y="4224528"/>
            <a:ext cx="1600200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69480" y="424281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-0,1736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778240" y="4224528"/>
            <a:ext cx="3364992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69680" y="424281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20040" y="4956048"/>
            <a:ext cx="2286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497433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Scaler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606040" y="4956048"/>
            <a:ext cx="4572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97480" y="497433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+ Sympt + SMOTE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178040" y="4956048"/>
            <a:ext cx="16002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69480" y="497433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+0,0085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778240" y="4956048"/>
            <a:ext cx="3364992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869680" y="497433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Neutre (RF)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20040" y="6437376"/>
            <a:ext cx="11548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finale : 30 variables (12 bio + 8 symptomes + 10 lifestyle) + SMOTE + Scaler</a:t>
            </a:r>
            <a:endParaRPr lang="en-US" sz="1150" dirty="0"/>
          </a:p>
        </p:txBody>
      </p:sp>
      <p:pic>
        <p:nvPicPr>
          <p:cNvPr id="54" name="Image_Ablation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65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Finaux — Holdout v5 (30%)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0" y="1005840"/>
            <a:ext cx="5788152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70432"/>
            <a:ext cx="3520440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16152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94,06%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94360" y="2633472"/>
            <a:ext cx="3520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170432"/>
            <a:ext cx="3520440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16152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89120" y="2633472"/>
            <a:ext cx="3520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83880" y="1170432"/>
            <a:ext cx="3520440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216152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83880" y="2633472"/>
            <a:ext cx="3520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Scurvy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(detection parfaite)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11480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88336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88336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688336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65192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65192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965192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Blindness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42048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42048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242048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Rickets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18904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18904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518904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Scurvy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6382512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de 2,6 pts vs v4 = correction du biais de selection, non une regression du modele</a:t>
            </a:r>
            <a:endParaRPr lang="en-US" sz="1100" dirty="0"/>
          </a:p>
        </p:txBody>
      </p:sp>
      <p:pic>
        <p:nvPicPr>
          <p:cNvPr id="29" name="Image_ConfusionMatr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200400"/>
            <a:ext cx="5486400" cy="3200400"/>
          </a:xfrm>
          <a:prstGeom prst="rect">
            <a:avLst/>
          </a:prstGeom>
        </p:spPr>
      </p:pic>
      <p:pic>
        <p:nvPicPr>
          <p:cNvPr id="30" name="Image_ROCCurv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200400"/>
            <a:ext cx="54864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VitaIA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6537960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82880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8016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6080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projet, metriques, composition equipe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852928"/>
            <a:ext cx="6537960" cy="15087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852928"/>
            <a:ext cx="182880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94436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3419856"/>
            <a:ext cx="6080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patient → prediction temps reel + radar chart + recommandations CIQUAL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4517136"/>
            <a:ext cx="6537960" cy="1508760"/>
          </a:xfrm>
          <a:prstGeom prst="rect">
            <a:avLst/>
          </a:prstGeom>
          <a:solidFill>
            <a:srgbClr val="F0F0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4517136"/>
            <a:ext cx="182880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60857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" y="5084064"/>
            <a:ext cx="6080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· ROC curves · Feature importance · Ablation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05472" y="1188720"/>
            <a:ext cx="4663440" cy="5010912"/>
          </a:xfrm>
          <a:prstGeom prst="rect">
            <a:avLst/>
          </a:prstGeom>
          <a:solidFill>
            <a:srgbClr val="FFFBF0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05472" y="1188720"/>
            <a:ext cx="466344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5472" y="1188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24928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24928" y="22219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24928" y="27889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24928" y="31363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24928" y="37033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24928" y="40507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random_forest_final.pkl (15 Mo)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24928" y="4617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Artefacts 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24928" y="49651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· scaler · encoder · features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5468112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5468112" cy="4663440"/>
          </a:xfrm>
          <a:prstGeom prst="rect">
            <a:avLst/>
          </a:prstGeom>
          <a:solidFill>
            <a:srgbClr val="FDEDED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993392"/>
            <a:ext cx="365760" cy="3657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78992" y="19385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non cliniques reelles → distributions trop regulieres et idealisees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364992"/>
            <a:ext cx="365760" cy="3657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364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33101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support classes minoritaires (28 cas Scurvy, 62 Night Blindness)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4736592"/>
            <a:ext cx="365760" cy="3657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46817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mono-label : pas de detection simultanee de multi-carences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1188720"/>
            <a:ext cx="5468112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188720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55080" y="1737360"/>
            <a:ext cx="5468112" cy="46634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0" y="1993392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68312" y="19385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sur une cohorte clinique reelle avec donnees biologiques certifiees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0" y="3364992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3364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68312" y="33101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multi-label pour detecter plusieurs carences simultanees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83680" y="4736592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68312" y="46817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dans un outil medical professionnel ou systeme de sante numerique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11365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71600" y="1207008"/>
            <a:ext cx="9445752" cy="135331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07008"/>
            <a:ext cx="164592" cy="13533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0200" y="1517904"/>
            <a:ext cx="658368" cy="6583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00200" y="151790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23160" y="1298448"/>
            <a:ext cx="7525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Biomarqueurs seriques = levier predictif principal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423160" y="1792224"/>
            <a:ext cx="7525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eux : -17,4% de F1 — contribution critique pour le diagnostic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371600" y="2743200"/>
            <a:ext cx="9445752" cy="135331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743200"/>
            <a:ext cx="164592" cy="13533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3054096"/>
            <a:ext cx="658368" cy="6583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00200" y="3054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23160" y="2834640"/>
            <a:ext cx="7525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lifestyle sous-estimees (contre-intuitif)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23160" y="3328416"/>
            <a:ext cx="7525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Leur ajout apporte +5,3% de F1 supplementaire — resultat surprenant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371600" y="4279392"/>
            <a:ext cx="9445752" cy="135331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71600" y="4279392"/>
            <a:ext cx="164592" cy="13533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4590288"/>
            <a:ext cx="658368" cy="6583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00200" y="45902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423160" y="4370832"/>
            <a:ext cx="7525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propre (v5) corrige le biais de selection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4864608"/>
            <a:ext cx="7525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94,06% F1 realiste et reproductible sur donnees non vues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11480" y="6309360"/>
            <a:ext cx="8988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Ibnmtar Hazem  ·  Moutchachou Lydia  ·  Varol Serdar  ·  Bekakria Ahmed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63093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ortance des Variabl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2800" b="1" dirty="0">
                <a:solidFill>
                  <a:srgbClr val="FFFFFF"/>
                </a:solidFill>
                <a:latin typeface="Calibri" pitchFamily="34" charset="0"/>
              </a:rPr>
              <a:t>Importance des Variables</a:t>
            </a:r>
          </a:p>
        </p:txBody>
      </p:sp>
      <p:pic>
        <p:nvPicPr>
          <p:cNvPr id="3" name="Image_FeatureImporta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280160"/>
            <a:ext cx="9144000" cy="5303520"/>
          </a:xfrm>
          <a:prstGeom prst="rect">
            <a:avLst/>
          </a:prstGeom>
        </p:spPr>
      </p:pic>
      <p:sp>
        <p:nvSpPr>
          <p:cNvPr id="4" name="SpeakerBanner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900" b="0" dirty="0">
                <a:solidFill>
                  <a:srgbClr val="FFFFFF"/>
                </a:solidFill>
                <a:latin typeface="Calibri" pitchFamily="34" charset="0"/>
              </a:rPr>
              <a:t>🎤 Hazem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VitaIA – Prédiction des carences en vitamines</dc:title>
  <dc:subject>PptxGenJS Presentation</dc:subject>
  <dc:creator>VitaIA Team</dc:creator>
  <cp:lastModifiedBy>VitaIA Team</cp:lastModifiedBy>
  <cp:revision>1</cp:revision>
  <dcterms:created xsi:type="dcterms:W3CDTF">2026-04-11T12:29:19Z</dcterms:created>
  <dcterms:modified xsi:type="dcterms:W3CDTF">2026-04-11T12:29:19Z</dcterms:modified>
</cp:coreProperties>
</file>